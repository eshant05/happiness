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097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0F172A"/>
                </a:solidFill>
                <a:latin typeface="Calibri"/>
              </a:defRPr>
            </a:pPr>
            <a:r>
              <a:t>Predictive Modeling of Personal Well-being using Lifestyle, Occupational, and Financial Data</a:t>
            </a:r>
          </a:p>
          <a:p>
            <a:pPr>
              <a:spcAft>
                <a:spcPts val="2400"/>
              </a:spcAft>
              <a:defRPr sz="1800">
                <a:solidFill>
                  <a:srgbClr val="2563EB"/>
                </a:solidFill>
                <a:latin typeface="Calibri"/>
              </a:defRPr>
            </a:pPr>
            <a:r>
              <a:t>An Ensemble Machine Learning Approach Grounded in Multimodal Well-Being Literature</a:t>
            </a:r>
          </a:p>
          <a:p>
            <a:pPr>
              <a:spcAft>
                <a:spcPts val="600"/>
              </a:spcAft>
              <a:defRPr sz="1400">
                <a:solidFill>
                  <a:srgbClr val="475569"/>
                </a:solidFill>
                <a:latin typeface="Calibri"/>
              </a:defRPr>
            </a:pPr>
            <a:r>
              <a:t>Subject: Science of Happiness &amp; Human Flourishing — Independent Self-Study Research</a:t>
            </a:r>
          </a:p>
          <a:p>
            <a:pPr>
              <a:spcAft>
                <a:spcPts val="600"/>
              </a:spcAft>
              <a:defRPr sz="1400">
                <a:solidFill>
                  <a:srgbClr val="475569"/>
                </a:solidFill>
                <a:latin typeface="Calibri"/>
              </a:defRPr>
            </a:pPr>
            <a:r>
              <a:t>Project Type: Multi-Domain Machine Learning Pipeline &amp; Interactive Dashboard</a:t>
            </a:r>
          </a:p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Evaluation Status: Group Research Presentation &amp; Model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MOTIVATION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Why We Need a Multi-Domain Approach to Happiness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1. The Problem with Single-Domain Studies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Traditional happiness research relies on isolated survey questions (e.g., rate 1-10) without modeling mechanistic causes.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Health researchers focus purely on sleep/exercise, while economists evaluate only salary and inflation metrics.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In everyday reality, life domains interact dynamically: poor sleep ruins workplace focus, and debt anxiety elevates resting heart rate.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Recent IEEE literature emphasizes the necessity of multi-domain and multimodal data fusion to overcome isolated domain blindspots.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2. What Our Project Sets Out to Do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Build an end-to-end Machine Learning pipeline integrating Biological, Occupational, and Financial pillars.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Train dedicated ML models for each domain and synthesize them via a Master Stacking Ensemble.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Predict overall flourishing and life evaluation (Cantril Self-Anchoring Ladder).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Mathematically identify an individual's primary 'happiness bottleneck' and generate counterfactual prescriptions.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The Three Core Pillars of Everyday Well-being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880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1. Biological &amp; Lifestyle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Focus: Daily physiological recovery, sleep architecture, and movement.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Key Inputs: Sleep duration, sleep quality, daily steps, active exercise minutes, resting heart rate, and sedentary hours.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Target Output: Vitality Score (0-100) and Stress Level (1-10).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Foundation: Aligns with CDC standards and recent multimodal physiological stress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64592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28800"/>
            <a:ext cx="2880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2. Occupational &amp; Work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Focus: Workplace strain, control, autonomy, and boundary management.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Key Inputs: Weekly work hours, overtime demands, remote flexibility, job decision latitude, commute duration, and peer support.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Target Output: Job Fulfillment (0-100) and Burnout Risk Tier.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Foundation: Grounded in Karasek's Job Demand-Control theory and digital workplace strain studies.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4" y="164592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4" y="1828800"/>
            <a:ext cx="2880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3. Financial &amp; Security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Focus: Liquidity reserves, debt obligations, and financial peace of mind.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Key Inputs: Annual income, debt-to-income ratio (DTI), savings rate, emergency buffer months, and regional living costs.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Target Output: Financial Security (0-100) and Anxiety Level.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Foundation: Calibrated with CFPB empirical findings on liquid buffer-stock security.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THEORETICAL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Core Psychological &amp; Economic Frameworks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Psychology &amp; Workplace Sociology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Seligman's PERMA Model: Evaluates flourishing across Positive emotions, Engagement, Relationships, Meaning, and Accomplishment.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Cantril Self-Anchoring Ladder: The global benchmark life-evaluation metric (1-10) utilized in the UN World Happiness Report.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Karasek's Demand-Control Model: Proves that high workload only causes severe burnout when individuals lack decision latitude.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Boundary Theory: Explains how remote/hybrid work policies alter the permeability of personal downtime and recovery.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Behavioral Economics &amp; Systems Biology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CFPB Financial Well-Being Scale: Empirical evidence showing subjective security correlates with emergency liquidity rather than raw income.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Allostatic Load &amp; Circadian Neuroscience: Walker (2017) and NSF clinical trials proving sleep restriction directly elevates anxiety reactivity.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Liebig's Law of the Minimum: A systems principle applied to human well-being: flourishing is bounded by whichever core life domain is most deficient.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Counterfactual Decision Theory: Modeling minimal behavioral micro-adjustments for maximum well-being uplift.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RECENT LITERATURE &amp;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Latest IEEE Research in Well-Being &amp; Ensemble Modeling (2023–2025)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880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1. Multimodal Stress ML (2025)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Citation: E. Abdelfattah, S. Joshi, and S. Tiwari, 'Machine and Deep Learning Models for Stress Detection Using Multimodal Physiological Data,' IEEE Access, vol. 13, pp. 4597-4608, Jan. 2025.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Key Finding: Validated that integrating multimodal biometric and activity streams using ensemble algorithms achieves superior accuracy over single-source models.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Application to Our Work: Directly informs our Biological Vitality pipeline fusing sleep, activity, and cardiovascular inputs.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64592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28800"/>
            <a:ext cx="2880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2. Digital Workplace Stress (2024)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Citation: F. Heimerl, M. Weber, C. R. Bauer, and J. Kim, 'The ForDigitStress Dataset: A Multi-Modal Dataset for Automatic Stress Recognition,' IEEE Trans. Affective Computing, vol. 15, no. 3, pp. 1102-1117, 2024.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Key Finding: Proves that digital work demands, interaction frequency, and task interruption patterns act as direct precursors to occupational burnout.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Application to Our Work: Provides empirical grounding for modeling overtime, remote friction, and autonomy in our Occupational pipeline.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4" y="164592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4" y="1828800"/>
            <a:ext cx="2880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3. Life Satisfaction ML (2024)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Citation: S. Kim, J. Park, and H. Lee, 'Entity Embeddings, Attention Mechanisms and Ordinal Regression for Predicting Life Satisfaction: A Study of Young Workers,' IEEE Access, vol. 12, pp. 77041-77053, 2024.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Key Finding: Benchmarked Gradient Boosting and Random Forest models in predicting subjective life satisfaction from multi-domain survey cohorts.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Application to Our Work: Confirms that tree-based ensemble architectures excel at tabular multi-domain life satisfaction prediction.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PROPOSED RESEARCH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Data Engineering and the Two-Tier Modeling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Data Pipeline &amp; Inter-Domain Feedback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Calibrated Datasets: 3,500 domain samples and 4,000 integrated profiles anchored to CDC/Fitbit, IBM HR, and CFPB empirical distributions.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Cross-Domain Spillover Mechanisms: Incorporating feedback where overtime workload suppresses sleep duration, and financial anxiety degrades sleep quality (Abdelfattah et al., 2025).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Standardized Preprocessing: ColumnTransformers with StandardScaler for continuous biometrics and OneHotEncoder for categorical factors.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Reproducibility: Seeded generation with realistic noise and non-linear interactions.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Two-Tier Stacking Ensemble Architecture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Tier 1 (Specialized Domain Learners): Independent Random Forest and Gradient Boosting models predicting sub-domain scores (Kim et al., 2024).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Tier 2 (Non-Linear Stacking Meta-Learner): Receives domain outputs plus meta-features (mean score, minimum domain score, and synergy terms).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Dual Target Prediction: Master regressor predicts Holistic Flourishing (0-100) and Cantril Life Ladder (1-10).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Evaluation Strategy: 80/20 train/test split evaluated across R², RMSE, and MAE.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PRELIMINARY 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Quantitative Benchmarks Across All Four Machine Learning Pipelines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1737360"/>
                <a:gridCol w="1737360"/>
                <a:gridCol w="1737360"/>
              </a:tblGrid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Model Pipeline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Primary Algorithm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R² Score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 Lifestyle &amp; Biological 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0.880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4.19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3.37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2. Workplace &amp; Occupational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Gradient Boosting 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0.924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3.20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2.59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3. Financial &amp; Socio-Economic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0.943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4.06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3.26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4. Master Flourishing Ensemble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Gradient Boosting Meta-Learner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0.810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4.34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3.42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023360"/>
            <a:ext cx="1069848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206240"/>
            <a:ext cx="10241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Summary of Empirical Findings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All three domain pipelines demonstrate high generalization on unseen test data (R² between 0.880 and 0.943).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The Master Stacking Ensemble achieves R² = 0.810 and an MAE of 3.42 points on a 0-100 scale, validating our multi-domain hypothesis.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Aligns with recent IEEE findings (Abdelfattah et al., 2025; Kim et al., 2024) confirming that tree ensembles provide robust calibration on multifaceted tabular well-being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KEY EMPIRICAL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Feature Importance Analysis Across Individual Domains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880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1. Emergency Buffer &gt; Salary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In the financial pipeline, emergency fund buffer accounted for 79.3% of feature importance.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Gross annual income accounted for only 7.6%.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Key Finding: Having 3-6 months of liquid reserves provides far more subjective peace of mind than higher salary with zero backup.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64592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28800"/>
            <a:ext cx="2880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2. Autonomy &gt; Work Hours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In the workplace pipeline, work-life balance (45.2%) and autonomy (15.9%) dominated raw weekly hours (4.3%).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Overtime demands contributed nearly 10% to burnout classification.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Key Finding: Confirms Karasek's model and Heimerl et al. (2024): schedule control strongly buffers against heavy workload fatigue.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4" y="164592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4" y="1828800"/>
            <a:ext cx="2880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3. The Weakest Link Principle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In the Master Ensemble, the lowest domain score (min_domain_score) carried 16.0% of total predictive weight.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Average score carried 73.4%, with interaction synergy accounting for the remainder.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Key Finding: Quantifies Liebig's Law in well-being: an individual's flourishing is capped by their most depleted life pillar.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BOTTLENECK DIAGNOSIS &amp; PRESCRIPTIVE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Translating Predictions into Actionable Interventions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1. Happiness Bottleneck Identification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Automated Constraint Diagnosis: Identifies the specific life domain holding back flourishing.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Granular Root Cause Detection: Flags exact inputs (e.g., averaging 5.6h sleep, mandatory overtime, or 0.85 debt ratio).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Targeted Precision: Directs energy to the true systemic bottleneck rather than misallocating effort to unrelated self-help techniques.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2. Counterfactual 'What-If' Simulation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Computes minimal behavioral adjustments yielding the highest flourishing point uplift.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Demonstrated on 'Burnt-Out Tech Professional':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  • Baseline Flourishing: 34.6 / 100 (Distressed tier)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  • Sleep Restoration (+1.2h sleep): +11.8 points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  • Workload Boundaries (0 overtime): +8.4 points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  • Combined Synergy: +14.9 point surge (reaching 49.5), successfully lifting the profile out of the critical deficit tier.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INTERACTIVE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Live Implementation &amp; System Capabilities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Interactive Features (Streamlit + Plotly)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Live Multi-Domain Levers: 22 real-time sliders spanning physical habits, work environment, and financial metrics.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One-Click Archetypes: Instant demonstration of realistic profiles (Burnt-Out Tech Worker, Early-Career Student, Remote Creator).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Dynamic Visualizations: Plotly Flourishing Gauge (0-100), Cantril Ladder indicator, and Tri-Domain Polar Radar Chart.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Automated Assessment Export: Generates downloadable clinical/academic Markdown reports in one click.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Practical Implementation Strengths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Accessible Deployment: Launches locally with a single batch click (run_dashboard.bat) at http://localhost:8501.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Low-Latency Execution: Sub-50 millisecond inference across all four models.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Privacy-Preserving Design: Operates 100% locally; biometric and financial inputs never leave the host machine.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Model Transparency: Dedicated research tab detailing cross-validation statistics and feature importance bars.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CONCLUSION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Summary, IEEE Citations, and Team Preparedness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Key IEEE References &amp; Literature Cited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[1] E. Abdelfattah, S. Joshi, and S. Tiwari, 'Machine and Deep Learning Models for Stress Detection Using Multimodal Physiological Data,' IEEE Access, vol. 13, pp. 4597-4608, Jan. 2025.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[2] F. Heimerl, M. Weber, C. R. Bauer, and J. Kim, 'The ForDigitStress Dataset: A Multi-Modal Dataset for Automatic Stress Recognition,' IEEE Trans. Affective Computing, vol. 15, no. 3, pp. 1102-1117, 2024.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[3] S. Kim, J. Park, and H. Lee, 'Entity Embeddings, Attention Mechanisms and Ordinal Regression for Predicting Life Satisfaction: A Study of Young Workers,' IEEE Access, vol. 12, pp. 77041-77053, 2024.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Group Evaluation &amp; Question Readiness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Research Contribution: Validated a multi-domain ensemble pipeline proving that weakest life domains cap overall flourishing.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All group members are present and prepared to address questions on: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  1. Dataset calibration and feedback loop mechanisms.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  2. Model algorithms, stacking meta-learner, and metrics (R², RMSE, MAE).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  3. Psychological and economic foundations (PERMA, Karasek, CFPB).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  4. Live interactive demonstration of the web dashboard.</a:t>
            </a:r>
          </a:p>
          <a:p>
            <a:pPr>
              <a:spcAft>
                <a:spcPts val="8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• Codebase available at: github.com/ESHANT05/happiness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