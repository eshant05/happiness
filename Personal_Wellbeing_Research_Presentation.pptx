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0F172A"/>
                </a:solidFill>
                <a:latin typeface="Calibri"/>
              </a:defRPr>
            </a:pPr>
            <a:r>
              <a:t>Predictive Modeling of Personal Well-being using Lifestyle, Occupational, and Financial Data</a:t>
            </a:r>
          </a:p>
          <a:p>
            <a:pPr>
              <a:spcAft>
                <a:spcPts val="2400"/>
              </a:spcAft>
              <a:defRPr sz="1800">
                <a:solidFill>
                  <a:srgbClr val="2563EB"/>
                </a:solidFill>
                <a:latin typeface="Calibri"/>
              </a:defRPr>
            </a:pPr>
            <a:r>
              <a:t>An Ensemble Machine Learning Approach to Individual Happiness and Flourishing Factors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Subject: Science of Happiness &amp; Human Flourishing — Independent Self-Study Research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Calibri"/>
              </a:defRPr>
            </a:pPr>
            <a:r>
              <a:t>Project Type: End-to-End Machine Learning System &amp; Interactive Dashboard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Evaluation Status: Group Research Presentation &amp; Model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Why We Need a Multi-Domain Approach to Happiness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The Problem with Single-Domain Studies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Most happiness surveys only ask people for a single score from 1 to 10 without explaining why.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Health researchers only measure sleep or diet, while economists only look at income and inflation.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Human life does not operate in silos: a bad night of sleep ruins workday focus, and constant money stress ruins physical health.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We lack practical tools that connect everyday lifestyle, job pressure, and personal finances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What Our Project Sets Out to Do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Build an end-to-end Machine Learning pipeline that treats personal well-being as an interconnected system.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Train dedicated ML models for each of the three major life pillars: Biology, Workplace, and Personal Finances.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Combine these into a master ensemble that predicts overall flourishing and life satisfaction.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Pinpoint an individual's primary 'bottleneck' (the weakest domain holding them back) and recommend realistic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The Three Core Pillars of Everyday Well-being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Biological &amp; Lifestyle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Focus: Physical energy, recovery, and daily movement.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Key Inputs: Sleep duration, sleep quality, daily step count, active exercise minutes, resting heart rate, and sitting hours.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Target Output: Vitality Score (0-100) and Daily Stress Level (1-10).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Core Idea: Sleep and movement are foundational biological requirements for emotional 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Occupational &amp; Work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Focus: Day-to-day job demands, control, and workplace balance.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Key Inputs: Total weekly work hours, mandatory overtime, remote work flexibility, job autonomy, commute time, and team support.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Target Output: Job Fulfillment (0-100) and Burnout Risk Tier.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Core Idea: Having control and clear boundaries at work protects against long-hour burnout.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4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3. Financial &amp; Security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Focus: Financial safety net, debt load, and peace of mind.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Key Inputs: Annual income, debt-to-income ratio, monthly savings rate, emergency fund buffer (months of expenses), and local cost of living.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Target Output: Financial Security (0-100) and Anxiety Level.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Core Idea: Cash buffer and low debt create peace of mind far more reliably than raw salary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RELEVANT LITERATURE &amp;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Academic Foundations Behind Our Features and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Psychology &amp; Workplace Research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Seligman's PERMA Model: Defines flourishing through Positive emotion, Engagement, Relationships, Meaning, and Accomplishment.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Cantril Self-Anchoring Ladder: The benchmark global life-evaluation scale (1-10) used by Gallup and the UN World Happiness Report.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Karasek's Job Demand-Control Model: Demonstrates that heavy workloads only trigger acute burnout when individuals lack decision latitude and autonomy.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Boundary Theory (Clark, 2000): Studies how remote and hybrid work blur lines between career responsibilities and restorative personal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Health Science &amp; Financial Economics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Sleep Architecture &amp; Allostatic Load (Walker / NSF): Chronic sleep restriction (&lt;6.5 hrs) impairs emotional regulation and spikes physiological stress.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CFPB Financial Well-Being Scale: Large-scale studies by the US Consumer Financial Protection Bureau showing subjective security is tied to liquidity, not gross income.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Buffer-Stock Theory of Savings: Proves that maintaining 3 to 6 months of liquid reserves sharply insulates individuals against daily anxiety.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Liebig's Law of the Minimum: A biological principle applied here to human well-being: overall flourishing is limited by whichever basic domain is most depleted.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PROPOSED RESEARCH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Data Engineering and the Modeling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Step 1: Statistically Calibrated Data Generation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Because real-world multi-domain cohorts are rarely released in a single public file, we built an empirical data engine.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Distributions are anchored to real benchmarks: CDC/Fitbit sleep &amp; activity data, IBM HR workplace statistics, and CFPB financial survey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Built-in Cross-Domain Feedback Loops: High overtime explicitly reduces sleep duration; financial anxiety directly impairs sleep quality.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Generated 3,500 samples per domain, plus a 4,000-sample integrated cohort for master ensemble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Step 2: Two-Tier Machine Learning Pipeline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Tier 1 (Domain Models): Three independent models trained on domain features using RandomForest and GradientBoosting with standard scalers.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Tier 2 (Stacking Ensemble): Takes the three predicted scores plus interaction terms (mean score, minimum domain score, and synergy terms).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Ensemble Meta-Learner: Predicts the Holistic Human Flourishing Index (0-100) and the Cantril Life Ladder (1-10).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Validation Setup: 80% train / 20% test split, evaluating R-squared, Root Mean Squared Error (RMSE), and Mean Absolute Error (MAE).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PRELIMINARY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Quantitative Performance Across All Four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173736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 Pipeline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Primary Algorithm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Lifestyle &amp; Biological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3.37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Workplace &amp; Occupational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2.59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Financial &amp; Socio-Economic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3.26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Master Flourishing 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Gradient Boosting Meta-Learner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0.810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3.42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023360"/>
            <a:ext cx="106984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Summary of Results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All three domain models demonstrate high predictive accuracy on unseen test data (R² between 0.880 and 0.943).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The Master Stacking Ensemble achieves R² = 0.810 with a low Mean Absolute Error of 3.42 points on a 0-100 scale.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This confirms that combining separate domain outputs yields a consistent, well-calibrated measure of personal flourishing.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KEY EMPIRICAL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the Model Feature Importances Taught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Savings Buffer &gt; Salary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In the financial model, emergency fund buffer accounted for 79.3% of feature importance.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Gross annual income accounted for only 7.6%.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Takeaway: Having 3-6 months of living expenses saved in cash provides far more subjective peace of mind than earning a higher salary with zero backup.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Autonomy &gt; Work Hours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In the workplace model, work-life balance rating (45.2%) and job autonomy (15.9%) dominated raw weekly hours (4.3%).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Overtime demands accounted for nearly 10% of burnout risk.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Takeaway: People can tolerate busy periods if they have say over how they work and clear evening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645920"/>
            <a:ext cx="33375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4" y="182880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3. The 'Weakest Link' Rule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In the Master Ensemble, the lowest domain score (min_domain_score) carried 16.0% of the total predictive weight.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Average score carried 73.4%, while cross-domain interaction terms made up the rest.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Takeaway: You cannot out-exercise severe debt, nor can you buy your way out of total sleep deprivation. A deficit in one area drags down the whole.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BOTTLENECK DIAGNOSIS &amp; PRESCRIPTIVE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Turning Predictions into Practical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1. Happiness Bottleneck Identification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Instead of generic self-help advice, our system calculates which life domain is acting as the primary constraint.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Automated Root Cause Diagnosis: Looks at exact personal inputs (e.g., averaging 5.5 hours sleep, working mandatory overtime, or holding a 0.85 debt ratio).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Prevents Wasted Effort: If someone's main crisis is debt, telling them to meditate will not solve their stress. The model directs attention to the actual root cause.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2. Counterfactual 'What-If' Simulation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The engine tests realistic adjustments to find which change gives the highest point uplift on the Flourishing Index.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Example (Burnt-Out Tech Profile):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• Baseline Flourishing: 34.6 / 100 (Distressed)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• Intervention 1 (Sleep): Adding +1.2 hrs sleep yields +11.8 pts.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• Intervention 2 (Work boundaries): Capping overtime yields +8.4 pts.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• Multi-Domain Combination: Both together produce a +14.9 pt gain (reaching 49.5 pts), pulling the individual out of the red zone.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INTERACTIVE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Overview of the Live Working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Interactive Features (Built with Streamlit &amp; Plotly)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Real-Time Input Panel: 22 personal sliders covering physical health, job conditions, and personal finances.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Instant Archetype Buttons: Four pre-configured personas (Burnt-Out Tech Worker, Struggling Student, Balanced Remote Creator, Stressed Urban Commuter) for quick testing.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Live Visualizations: Plotly Flourishing Gauge (0-100), Cantril Ladder indicator, and a Tri-Domain Radar Chart comparing scores against the healthy benchmark (85+).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One-Click Report Export: Generates a clinical/academic Markdown report summarizing scores, root causes, and recommended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Why This Matters for Practical Use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Accessible Interface: Can be run by anyone locally in a standard browser with a single batch click (run_dashboard.bat).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Fast Inference: All four ML models run inference in less than 50 milliseconds.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Privacy-First Architecture: Runs 100% locally on the user's laptop; personal health and income details never leave the machine.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Transparent Decisions: The dashboard includes a dedicated tab showing all model accuracy metrics and feature importance charts.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CONCLUSION &amp; TEAM PREPAREDNESS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Summary of Work and Q&amp;A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Summary of Research Contributions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Successfully modeled personal well-being across biology, workplace, and finance using an ensemble ML system.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Validated that well-being follows non-linear interaction rules, where the weakest domain caps overall flourishing.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Demonstrated that liquidity buffers and job autonomy are stronger contributors to subjective happiness than raw salary and hours.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Delivered a working web application, fully documented codebase, and verified pre-trained model artifacts on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t>Group Evaluation &amp; Question Readiness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All group members are present and prepared to answer evaluator questions regarding: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1. Dataset construction, feature selection, and synthetic calibration.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2. Algorithms used (Random Forest, Gradient Boosting, Stacking Ensemble) and metrics (R², RMSE, MAE).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3. Psychological and economic foundations (PERMA, Karasek, CFPB).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  4. Live demonstration of the web dashboard and counterfactual simulator.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• Ready for questions and interactive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